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0" r:id="rId9"/>
    <p:sldId id="263" r:id="rId10"/>
    <p:sldId id="266" r:id="rId11"/>
    <p:sldId id="267" r:id="rId12"/>
    <p:sldId id="272" r:id="rId13"/>
    <p:sldId id="268" r:id="rId14"/>
    <p:sldId id="275" r:id="rId15"/>
    <p:sldId id="269" r:id="rId16"/>
    <p:sldId id="274" r:id="rId17"/>
    <p:sldId id="265" r:id="rId18"/>
    <p:sldId id="271" r:id="rId19"/>
    <p:sldId id="270" r:id="rId20"/>
    <p:sldId id="276" r:id="rId21"/>
    <p:sldId id="277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9F180-D9E9-AD6F-ADAE-EEF035F9B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97480-937A-3B92-BBBD-DBAFF2AE4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53901-6F12-9F01-05E6-35D574D9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1BF6C-FF96-F090-4677-B140D54C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0CAA-148E-F8AE-1C92-1AC9A87D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51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FE22-A631-5FEB-84BD-06B98F1C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F5A52-79C6-A0CB-5BE5-E3E9EB313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62B9C-1F9F-51D2-6334-E53642EE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A340A-0710-CA7B-E162-88567478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5D3FE-45D0-A8C7-E438-F9802649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5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5A24-9CEB-42A3-6E65-8242A8307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689F8-317E-6EAE-2519-F042A1B3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2600B-1CB0-7A48-DEE9-AB54ED60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0A1C8-D070-07A1-1D0E-D9017471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C040F-8586-A9E2-0B1A-8C0733330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4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B07E0-89C9-AFF6-ADBF-C9127E04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73BC8-7D75-EDEB-B69D-4574AFD1C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5E71B-8396-2FBB-4187-19036DF5D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C79BF-BBE6-FB42-5BA3-85E7DB26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B38E6-4F3B-3C64-BA88-3381D578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AEC2E-0580-EE1B-9497-9F4995FB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8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0E10-7E89-C397-53BC-B8FEB2C2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ACA96-9397-DC95-AF9C-F825DE928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22087-9353-FBEC-4DF1-A454034E6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675BC3-7FCA-C0DA-B9A2-FFBC5593D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F5088-FC6D-478B-AEE2-D5D8E97A1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1E11D7-48F9-ED27-E742-A03E4C281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F41571-5004-2849-135A-5F6056F5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5E732-2581-26BA-3790-DCA33B6A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6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109D-F570-FE4E-0485-0AB0C2977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99059-E5EF-83D9-F895-7C66CDB5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48DBCB-E6FE-FEB2-BA2F-84B870B70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C38EF-E408-030F-9492-0C8960A5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0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E6F56-4610-77BB-9BCF-72091D138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C58AC6-BA15-B96A-258F-761E105C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3CC24-F907-201B-25C0-93617364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559A-5340-0EF1-47DE-3F6C370C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9DF2D-AB39-7FE1-D791-4868FB83D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0695B-50B5-4C1D-3537-81F0A5D82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CA9EF-39BF-7584-B950-6D30EF97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AB6CB-32F1-858C-163B-B766C4DCA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D7EE1-8952-A22F-B811-4805C43F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4C94-5DAC-1889-D219-59FB1290B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36A67-BF65-96E0-61ED-4C093D5FA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77913-2358-C1EF-5477-36101C85F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D9AFC-20D4-90E9-4FC7-37297712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633F5-3C34-FDCD-F927-0E0FE703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24413-9ADE-A8D9-A232-0B9BD051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8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64A5-A21A-EF9B-D055-D9DD4AF4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9D5CA-9082-E991-4A17-F9A1C3CC1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175A6-6E35-765E-87B0-6C536A1F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351D-8660-72FF-1F0F-91C61F578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0C349-98E7-EB11-06F1-D2DF6D21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39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E8675-E59D-81D1-1ED4-086D8A4142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2976D-49F5-7353-F60B-756D44228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CFA54-0769-4E23-4C22-3572CCA1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3A464-159E-7F83-0D06-2D7332A9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AF4AA-5DA5-0D6A-A5AF-97FEF138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38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406585-4B89-54D5-938E-E110A38B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C041C-7FCF-B659-B0B3-1FA7E2642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3EBB4-4BB7-7DF0-F936-B1AD5582E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0CB6F-4D62-4CB5-B4A3-CC5F3515CA4A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6D9DB-662E-1923-3856-8876B2556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04D4-2E52-94A0-45E0-E9B990F24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FCA64-2BC7-4D12-828E-213B0A12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5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C6F26-D3DE-C0B8-20C3-B23B6936D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55" y="424656"/>
            <a:ext cx="11212945" cy="12660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	</a:t>
            </a:r>
            <a:r>
              <a:rPr lang="en-US" b="1" u="sng" dirty="0"/>
              <a:t>Data 601</a:t>
            </a:r>
            <a:br>
              <a:rPr lang="en-US" b="1" u="sng" dirty="0"/>
            </a:br>
            <a:r>
              <a:rPr lang="en-US" b="1" u="sng" dirty="0"/>
              <a:t>Assignment: Project 2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95E0737A-330F-B3D1-8E1F-D776F88DB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55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Proffessor</a:t>
            </a:r>
            <a:r>
              <a:rPr lang="en-US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Mr.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Muhhamad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Ali Yousuf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Akshansh Mandal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Suraj Chandra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Hanumanthapura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Andrew M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Ims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895F1E52-6299-CC86-2803-E23C38CA79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Submission Date:</a:t>
            </a:r>
          </a:p>
          <a:p>
            <a:pPr marL="0" indent="0">
              <a:buNone/>
            </a:pPr>
            <a:r>
              <a:rPr lang="en-US" dirty="0"/>
              <a:t>12.04.2022</a:t>
            </a:r>
          </a:p>
        </p:txBody>
      </p:sp>
    </p:spTree>
    <p:extLst>
      <p:ext uri="{BB962C8B-B14F-4D97-AF65-F5344CB8AC3E}">
        <p14:creationId xmlns:p14="http://schemas.microsoft.com/office/powerpoint/2010/main" val="300270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C6F26-D3DE-C0B8-20C3-B23B6936D06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9144000" cy="2387600"/>
          </a:xfrm>
        </p:spPr>
        <p:txBody>
          <a:bodyPr/>
          <a:lstStyle/>
          <a:p>
            <a:r>
              <a:rPr lang="en-US" sz="5000" b="1" dirty="0"/>
              <a:t>TABLE OF CONTENT</a:t>
            </a:r>
            <a:r>
              <a:rPr lang="en-US" dirty="0"/>
              <a:t>	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Which pizza types sell most?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Which ingredients are in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demand?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Are there more (or less)sales of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certain type of pizza in a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certain month, or day, or time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the day?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Which pizza sizes are sold more often,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which type, which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ingerdients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etc.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there a time of the day when there is a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peak sale? If yes, does that depend on the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day of the week, or month?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                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ED3588-21EB-45EB-BBD8-1947CE1FC9F3}"/>
              </a:ext>
            </a:extLst>
          </p:cNvPr>
          <p:cNvCxnSpPr/>
          <p:nvPr/>
        </p:nvCxnSpPr>
        <p:spPr>
          <a:xfrm>
            <a:off x="5486402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Arrow: Right 5">
            <a:extLst>
              <a:ext uri="{FF2B5EF4-FFF2-40B4-BE49-F238E27FC236}">
                <a16:creationId xmlns:a16="http://schemas.microsoft.com/office/drawing/2014/main" id="{885155ED-703A-C2A8-0F0F-FCC8871BAA40}"/>
              </a:ext>
            </a:extLst>
          </p:cNvPr>
          <p:cNvSpPr/>
          <p:nvPr/>
        </p:nvSpPr>
        <p:spPr>
          <a:xfrm>
            <a:off x="5486402" y="155830"/>
            <a:ext cx="1893455" cy="92291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tencil" panose="040409050D0802020404" pitchFamily="82" charset="0"/>
              </a:rPr>
              <a:t>1)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231091F-F0C6-D44B-A7CD-EDEA5383F3AF}"/>
              </a:ext>
            </a:extLst>
          </p:cNvPr>
          <p:cNvSpPr/>
          <p:nvPr/>
        </p:nvSpPr>
        <p:spPr>
          <a:xfrm>
            <a:off x="5486400" y="1489233"/>
            <a:ext cx="1893455" cy="92291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tencil" panose="040409050D0802020404" pitchFamily="82" charset="0"/>
              </a:rPr>
              <a:t>2)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FD863EF-6035-FB20-F202-6D48E676AD73}"/>
              </a:ext>
            </a:extLst>
          </p:cNvPr>
          <p:cNvSpPr/>
          <p:nvPr/>
        </p:nvSpPr>
        <p:spPr>
          <a:xfrm>
            <a:off x="5486401" y="2587154"/>
            <a:ext cx="1893455" cy="92291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tencil" panose="040409050D0802020404" pitchFamily="82" charset="0"/>
              </a:rPr>
              <a:t>3)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1907B78-2EBA-A176-5F13-9CAFAC7E6DF0}"/>
              </a:ext>
            </a:extLst>
          </p:cNvPr>
          <p:cNvSpPr/>
          <p:nvPr/>
        </p:nvSpPr>
        <p:spPr>
          <a:xfrm>
            <a:off x="5486402" y="4350324"/>
            <a:ext cx="1893455" cy="92291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tencil" panose="040409050D0802020404" pitchFamily="82" charset="0"/>
              </a:rPr>
              <a:t>4)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B3A2BF8-E9BF-6939-78CA-87AFFE4C45AD}"/>
              </a:ext>
            </a:extLst>
          </p:cNvPr>
          <p:cNvSpPr/>
          <p:nvPr/>
        </p:nvSpPr>
        <p:spPr>
          <a:xfrm>
            <a:off x="5495639" y="5623250"/>
            <a:ext cx="1893455" cy="92291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tencil" panose="040409050D0802020404" pitchFamily="82" charset="0"/>
              </a:rPr>
              <a:t>5)</a:t>
            </a:r>
          </a:p>
        </p:txBody>
      </p:sp>
    </p:spTree>
    <p:extLst>
      <p:ext uri="{BB962C8B-B14F-4D97-AF65-F5344CB8AC3E}">
        <p14:creationId xmlns:p14="http://schemas.microsoft.com/office/powerpoint/2010/main" val="394440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9163146-8FF3-7540-7D3C-1C7CB87A2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Which pizza types sell most?</a:t>
            </a:r>
            <a:b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90CFCA5-3E40-8ED9-0C34-AB659796B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03383"/>
            <a:ext cx="10515600" cy="23735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classic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big_meat_s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pizza is the most sold pizza for the year 2015.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sold number for the particular pizza is 2416.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second most sold pizza a The Barbecue Chicken Pizza and the next is The Hawaiian Pizza.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7812DF-94CA-8504-EBA8-351367F38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782931"/>
              </p:ext>
            </p:extLst>
          </p:nvPr>
        </p:nvGraphicFramePr>
        <p:xfrm>
          <a:off x="838199" y="954273"/>
          <a:ext cx="10515600" cy="2775478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5460143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026712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389765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54658455"/>
                    </a:ext>
                  </a:extLst>
                </a:gridCol>
              </a:tblGrid>
              <a:tr h="370064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dirty="0" err="1">
                          <a:effectLst/>
                        </a:rPr>
                        <a:t>pizza_name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pizza_category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01551"/>
                  </a:ext>
                </a:extLst>
              </a:tr>
              <a:tr h="647611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The Classic Deluxe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Classic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2416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413028"/>
                  </a:ext>
                </a:extLst>
              </a:tr>
              <a:tr h="647611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The Barbecue Chicken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Chicken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2372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3604"/>
                  </a:ext>
                </a:extLst>
              </a:tr>
              <a:tr h="370064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The Hawaiian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Classic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2370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689837"/>
                  </a:ext>
                </a:extLst>
              </a:tr>
              <a:tr h="370064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The Pepperoni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Classic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2369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404074"/>
                  </a:ext>
                </a:extLst>
              </a:tr>
              <a:tr h="370064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The Thai Chicken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Chicken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2315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890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59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60AFB8-5312-1205-FE28-E1F5881E0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Which ingredients are in demand?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D3540F-90DC-2DDE-09C0-8BDB32622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164" y="1017918"/>
            <a:ext cx="11654290" cy="515904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5D10A59-3A55-CADA-08DE-B816E5F40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417477"/>
              </p:ext>
            </p:extLst>
          </p:nvPr>
        </p:nvGraphicFramePr>
        <p:xfrm>
          <a:off x="250164" y="1138671"/>
          <a:ext cx="11654290" cy="2011680"/>
        </p:xfrm>
        <a:graphic>
          <a:graphicData uri="http://schemas.openxmlformats.org/drawingml/2006/table">
            <a:tbl>
              <a:tblPr/>
              <a:tblGrid>
                <a:gridCol w="2630238">
                  <a:extLst>
                    <a:ext uri="{9D8B030D-6E8A-4147-A177-3AD203B41FA5}">
                      <a16:colId xmlns:a16="http://schemas.microsoft.com/office/drawing/2014/main" val="1409181598"/>
                    </a:ext>
                  </a:extLst>
                </a:gridCol>
                <a:gridCol w="6393814">
                  <a:extLst>
                    <a:ext uri="{9D8B030D-6E8A-4147-A177-3AD203B41FA5}">
                      <a16:colId xmlns:a16="http://schemas.microsoft.com/office/drawing/2014/main" val="2261348582"/>
                    </a:ext>
                  </a:extLst>
                </a:gridCol>
                <a:gridCol w="2630238">
                  <a:extLst>
                    <a:ext uri="{9D8B030D-6E8A-4147-A177-3AD203B41FA5}">
                      <a16:colId xmlns:a16="http://schemas.microsoft.com/office/drawing/2014/main" val="2360812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 err="1">
                          <a:effectLst/>
                        </a:rPr>
                        <a:t>Pizza_Ingredients</a:t>
                      </a:r>
                      <a:endParaRPr lang="en-US" b="1" u="sng" dirty="0">
                        <a:effectLst/>
                      </a:endParaRP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Pepperoni, Mushrooms, Red Onions, Red Peppers, Bacon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Count </a:t>
                      </a:r>
                      <a:r>
                        <a:rPr lang="en-US" dirty="0">
                          <a:effectLst/>
                        </a:rPr>
                        <a:t> 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2416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13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Barbecued Chicken, Red Peppers, Green Peppers, Tomatoes, Red Onions, Barbecue Sauce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2372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319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>
                          <a:effectLst/>
                        </a:rPr>
                        <a:t>Sliced Ham, Pineapple, Mozzarella Cheese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2370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82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Mozzarella Cheese, Pepperoni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2369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98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9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1D1307-77D4-FBB5-4A01-C88B7C58F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0"/>
            <a:ext cx="79136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214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EEE6A7-0A60-698E-BF3F-6C1A83E6F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996"/>
            <a:ext cx="10515600" cy="467596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 shows the top 25 highest used ingredients in pizza.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highest used ingredients are pepperoni, mushrooms, red onions, red peppers and bacon.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29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60AFB8-5312-1205-FE28-E1F5881E0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Which ingredients are in demand?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D3540F-90DC-2DDE-09C0-8BDB32622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385" y="1139372"/>
            <a:ext cx="11654290" cy="55978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3C763D"/>
                </a:solidFill>
                <a:effectLst/>
                <a:latin typeface="Helvetica Neue"/>
              </a:rPr>
              <a:t>Certain date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highest number of pizza sold is in 2015-11-26 which was Thanksgiving day and second in 2015-11-27 which was black Friday.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higest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number of pizza sold in 2015-11-26 is 261.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C93734-7A3E-4B98-2150-E581A17B2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455332"/>
              </p:ext>
            </p:extLst>
          </p:nvPr>
        </p:nvGraphicFramePr>
        <p:xfrm>
          <a:off x="465822" y="1704126"/>
          <a:ext cx="3505200" cy="21031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141140334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25765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 err="1">
                          <a:effectLst/>
                        </a:rPr>
                        <a:t>Order_date</a:t>
                      </a:r>
                      <a:endParaRPr lang="en-US" b="1" u="sng" dirty="0">
                        <a:effectLst/>
                      </a:endParaRP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2015-11-26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261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034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2015-11-27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967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2015-10-15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071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2015-07-04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986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2015-07-03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47118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5FB1224-9088-5C9D-D6AE-860314DB5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903" y="844425"/>
            <a:ext cx="3176291" cy="382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87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71F27-9F9E-9C10-121A-3F675FCA8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97" y="1"/>
            <a:ext cx="10603303" cy="1690688"/>
          </a:xfrm>
        </p:spPr>
        <p:txBody>
          <a:bodyPr>
            <a:noAutofit/>
          </a:bodyPr>
          <a:lstStyle/>
          <a:p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Are there more (or less) sales of a certain type of pizza in a certain month, or day, or time of the day?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66148-00BE-C5B3-E429-AC2FA56C8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819"/>
            <a:ext cx="10515600" cy="499514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3C763D"/>
                </a:solidFill>
                <a:effectLst/>
                <a:latin typeface="Helvetica Neue"/>
              </a:rPr>
              <a:t>Certain pizza in certain date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highest sold pizza in certain date is The Hawaiian Pizza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and in 2015-11-26.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B727C3-1089-DB28-91AF-EA833E13B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900106"/>
              </p:ext>
            </p:extLst>
          </p:nvPr>
        </p:nvGraphicFramePr>
        <p:xfrm>
          <a:off x="750497" y="1695002"/>
          <a:ext cx="10515600" cy="13716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988079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608282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541833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540840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 err="1">
                          <a:effectLst/>
                        </a:rPr>
                        <a:t>Pizza_name</a:t>
                      </a:r>
                      <a:endParaRPr lang="en-US" b="1" u="sng" dirty="0">
                        <a:effectLst/>
                      </a:endParaRP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The Hawaiian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 err="1">
                          <a:effectLst/>
                        </a:rPr>
                        <a:t>Order_date</a:t>
                      </a:r>
                      <a:endParaRPr lang="en-US" b="1" u="sng" dirty="0">
                        <a:effectLst/>
                      </a:endParaRP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2015-11-26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814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The Classic Deluxe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2015-11-27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909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The Pepperoni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2015-05-15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928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038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day for most sales is in Friday which is 8106.</a:t>
            </a:r>
          </a:p>
          <a:p>
            <a:endParaRPr lang="en-US" dirty="0"/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5CE6A-7689-EE41-FE2B-B319F483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day has the maximum sales in a year?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1D233B5-B84B-23C3-6446-990964A6AC1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93526358"/>
              </p:ext>
            </p:extLst>
          </p:nvPr>
        </p:nvGraphicFramePr>
        <p:xfrm>
          <a:off x="639440" y="1608431"/>
          <a:ext cx="5157786" cy="2834640"/>
        </p:xfrm>
        <a:graphic>
          <a:graphicData uri="http://schemas.openxmlformats.org/drawingml/2006/table">
            <a:tbl>
              <a:tblPr/>
              <a:tblGrid>
                <a:gridCol w="1719262">
                  <a:extLst>
                    <a:ext uri="{9D8B030D-6E8A-4147-A177-3AD203B41FA5}">
                      <a16:colId xmlns:a16="http://schemas.microsoft.com/office/drawing/2014/main" val="1227314970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2380963687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92300883"/>
                    </a:ext>
                  </a:extLst>
                </a:gridCol>
              </a:tblGrid>
              <a:tr h="575717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Day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8106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221676"/>
                  </a:ext>
                </a:extLst>
              </a:tr>
              <a:tr h="328981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Saturday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7355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849275"/>
                  </a:ext>
                </a:extLst>
              </a:tr>
              <a:tr h="328981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Thursday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7323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489782"/>
                  </a:ext>
                </a:extLst>
              </a:tr>
              <a:tr h="328981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Wednesday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6797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365674"/>
                  </a:ext>
                </a:extLst>
              </a:tr>
              <a:tr h="328981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Tuesday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6753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656198"/>
                  </a:ext>
                </a:extLst>
              </a:tr>
              <a:tr h="328981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6369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504459"/>
                  </a:ext>
                </a:extLst>
              </a:tr>
              <a:tr h="328981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Sunday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5917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207890"/>
                  </a:ext>
                </a:extLst>
              </a:tr>
            </a:tbl>
          </a:graphicData>
        </a:graphic>
      </p:graphicFrame>
      <p:pic>
        <p:nvPicPr>
          <p:cNvPr id="3080" name="Picture 8">
            <a:extLst>
              <a:ext uri="{FF2B5EF4-FFF2-40B4-BE49-F238E27FC236}">
                <a16:creationId xmlns:a16="http://schemas.microsoft.com/office/drawing/2014/main" id="{F2A9A604-0BC1-DC2A-D109-EE9AC1260B49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776" y="1639479"/>
            <a:ext cx="5183188" cy="2854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126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Friday has the highest number of pizza sales for The Pepperoni Pizza which is 462.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99E56-FD03-D853-ADEC-ED71E749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pizza is most sold in a certain day?</a:t>
            </a:r>
            <a:endParaRPr lang="en-US" sz="2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00AFFA-FECC-CD31-C57E-BF4BE7A61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899018"/>
              </p:ext>
            </p:extLst>
          </p:nvPr>
        </p:nvGraphicFramePr>
        <p:xfrm>
          <a:off x="527649" y="1287361"/>
          <a:ext cx="10515600" cy="26517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1787914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160771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178359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54146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Pizza Name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The Pepperoni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Day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462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673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The Classic Deluxe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79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The Barbecue Chicken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396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311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The California Chicken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386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448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The Thai Chicken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378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70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829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865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The maximum sale is in the week 48 which is 1159.</a:t>
            </a: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69059-FF21-E971-53EC-BE569B37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318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for the most sales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E87F2D6-1507-F73F-D67E-25233CA35B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2449532"/>
              </p:ext>
            </p:extLst>
          </p:nvPr>
        </p:nvGraphicFramePr>
        <p:xfrm>
          <a:off x="6096000" y="128225"/>
          <a:ext cx="4288764" cy="2103120"/>
        </p:xfrm>
        <a:graphic>
          <a:graphicData uri="http://schemas.openxmlformats.org/drawingml/2006/table">
            <a:tbl>
              <a:tblPr/>
              <a:tblGrid>
                <a:gridCol w="1429588">
                  <a:extLst>
                    <a:ext uri="{9D8B030D-6E8A-4147-A177-3AD203B41FA5}">
                      <a16:colId xmlns:a16="http://schemas.microsoft.com/office/drawing/2014/main" val="1315474508"/>
                    </a:ext>
                  </a:extLst>
                </a:gridCol>
                <a:gridCol w="1429588">
                  <a:extLst>
                    <a:ext uri="{9D8B030D-6E8A-4147-A177-3AD203B41FA5}">
                      <a16:colId xmlns:a16="http://schemas.microsoft.com/office/drawing/2014/main" val="3492149068"/>
                    </a:ext>
                  </a:extLst>
                </a:gridCol>
                <a:gridCol w="1429588">
                  <a:extLst>
                    <a:ext uri="{9D8B030D-6E8A-4147-A177-3AD203B41FA5}">
                      <a16:colId xmlns:a16="http://schemas.microsoft.com/office/drawing/2014/main" val="29965933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Week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1159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108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1048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147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1027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787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087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46731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7E7E3203-BBEA-24C1-4817-FD2FDC15E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53189"/>
            <a:ext cx="112014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310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The Classic Deluxe Pizza is the </a:t>
            </a:r>
            <a:r>
              <a:rPr lang="en-US" sz="2800" dirty="0" err="1">
                <a:solidFill>
                  <a:schemeClr val="accent1">
                    <a:lumMod val="50000"/>
                  </a:schemeClr>
                </a:solidFill>
              </a:rPr>
              <a:t>higest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sold pizza in a week which is in week 48.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69059-FF21-E971-53EC-BE569B37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for the most sales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86EBC4-3732-557D-D882-ED6393519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213536"/>
              </p:ext>
            </p:extLst>
          </p:nvPr>
        </p:nvGraphicFramePr>
        <p:xfrm>
          <a:off x="2057878" y="1261166"/>
          <a:ext cx="7319035" cy="3200400"/>
        </p:xfrm>
        <a:graphic>
          <a:graphicData uri="http://schemas.openxmlformats.org/drawingml/2006/table">
            <a:tbl>
              <a:tblPr/>
              <a:tblGrid>
                <a:gridCol w="1793234">
                  <a:extLst>
                    <a:ext uri="{9D8B030D-6E8A-4147-A177-3AD203B41FA5}">
                      <a16:colId xmlns:a16="http://schemas.microsoft.com/office/drawing/2014/main" val="2417023720"/>
                    </a:ext>
                  </a:extLst>
                </a:gridCol>
                <a:gridCol w="1866283">
                  <a:extLst>
                    <a:ext uri="{9D8B030D-6E8A-4147-A177-3AD203B41FA5}">
                      <a16:colId xmlns:a16="http://schemas.microsoft.com/office/drawing/2014/main" val="3740219083"/>
                    </a:ext>
                  </a:extLst>
                </a:gridCol>
                <a:gridCol w="1829759">
                  <a:extLst>
                    <a:ext uri="{9D8B030D-6E8A-4147-A177-3AD203B41FA5}">
                      <a16:colId xmlns:a16="http://schemas.microsoft.com/office/drawing/2014/main" val="718915759"/>
                    </a:ext>
                  </a:extLst>
                </a:gridCol>
                <a:gridCol w="1829759">
                  <a:extLst>
                    <a:ext uri="{9D8B030D-6E8A-4147-A177-3AD203B41FA5}">
                      <a16:colId xmlns:a16="http://schemas.microsoft.com/office/drawing/2014/main" val="517529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Pizza Name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The Classic Deluxe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Week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7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The Classic Deluxe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292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The Pepperoni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92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The Barbecue Chicken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380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The Sicilian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271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249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-14377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i="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highest sales of pizza is in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 7 i.e. July.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pepperoni pizza is the pizza which is highest sold in a month which is May.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i="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95270-2DEC-0636-91E1-5D42ABC3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823" y="88642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sales for the month.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E20BFB8-2B03-22DF-05CF-B5E04A39708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65363359"/>
              </p:ext>
            </p:extLst>
          </p:nvPr>
        </p:nvGraphicFramePr>
        <p:xfrm>
          <a:off x="602503" y="1080653"/>
          <a:ext cx="5157786" cy="4696694"/>
        </p:xfrm>
        <a:graphic>
          <a:graphicData uri="http://schemas.openxmlformats.org/drawingml/2006/table">
            <a:tbl>
              <a:tblPr/>
              <a:tblGrid>
                <a:gridCol w="1719262">
                  <a:extLst>
                    <a:ext uri="{9D8B030D-6E8A-4147-A177-3AD203B41FA5}">
                      <a16:colId xmlns:a16="http://schemas.microsoft.com/office/drawing/2014/main" val="2904931370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2603327092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1470297054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u="sng" dirty="0">
                          <a:effectLst/>
                        </a:rPr>
                        <a:t>Month</a:t>
                      </a:r>
                    </a:p>
                    <a:p>
                      <a:pPr algn="r" fontAlgn="ctr"/>
                      <a:r>
                        <a:rPr lang="en-US" sz="1800" dirty="0">
                          <a:effectLst/>
                        </a:rPr>
                        <a:t>July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sz="1800" dirty="0">
                          <a:effectLst/>
                        </a:rPr>
                        <a:t>4301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82800"/>
                  </a:ext>
                </a:extLst>
              </a:tr>
              <a:tr h="407682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May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4239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95801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March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4186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71018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November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4185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151424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January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4156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83574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August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4094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16512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April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4067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11706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June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4025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92069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February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3892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0110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December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3859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34137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September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3819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35890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October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3797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dirty="0">
                        <a:effectLst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749123"/>
                  </a:ext>
                </a:extLst>
              </a:tr>
            </a:tbl>
          </a:graphicData>
        </a:graphic>
      </p:graphicFrame>
      <p:pic>
        <p:nvPicPr>
          <p:cNvPr id="3086" name="Picture 14">
            <a:extLst>
              <a:ext uri="{FF2B5EF4-FFF2-40B4-BE49-F238E27FC236}">
                <a16:creationId xmlns:a16="http://schemas.microsoft.com/office/drawing/2014/main" id="{C8193CEE-A57E-5D71-5386-E898C0A7A4D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309" y="1930949"/>
            <a:ext cx="5183188" cy="332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59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-14377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i="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pepperoni pizza is the pizza which is highest sold in a month which is May.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i="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95270-2DEC-0636-91E1-5D42ABC3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8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sales for the month.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E19123-74F5-B939-E02F-ABD59D7AE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231" y="1100769"/>
            <a:ext cx="6248942" cy="443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93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highest sold pizza size is large pizza.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26840-0A40-AB42-7545-BE85ABD1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4.Which pizza sizes are sold more often, which type, which </a:t>
            </a:r>
            <a:r>
              <a:rPr lang="en-US" sz="2800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ingerdients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etc.?</a:t>
            </a:r>
            <a:b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79529DA-D0DA-9076-CC11-BCBD9123B6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758" y="1690688"/>
            <a:ext cx="10515600" cy="3126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210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sold pizza with </a:t>
            </a:r>
            <a:r>
              <a:rPr lang="en-US" sz="28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referecne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size is classis small pizza which is 5975 times.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26840-0A40-AB42-7545-BE85ABD1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Pizza sale with reference to size</a:t>
            </a:r>
            <a:b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F39639F-D0B4-1AEC-1B91-C3A4C47F7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7343925"/>
              </p:ext>
            </p:extLst>
          </p:nvPr>
        </p:nvGraphicFramePr>
        <p:xfrm>
          <a:off x="2883770" y="1112482"/>
          <a:ext cx="3568788" cy="3520200"/>
        </p:xfrm>
        <a:graphic>
          <a:graphicData uri="http://schemas.openxmlformats.org/drawingml/2006/table">
            <a:tbl>
              <a:tblPr/>
              <a:tblGrid>
                <a:gridCol w="1189596">
                  <a:extLst>
                    <a:ext uri="{9D8B030D-6E8A-4147-A177-3AD203B41FA5}">
                      <a16:colId xmlns:a16="http://schemas.microsoft.com/office/drawing/2014/main" val="84249358"/>
                    </a:ext>
                  </a:extLst>
                </a:gridCol>
                <a:gridCol w="1189596">
                  <a:extLst>
                    <a:ext uri="{9D8B030D-6E8A-4147-A177-3AD203B41FA5}">
                      <a16:colId xmlns:a16="http://schemas.microsoft.com/office/drawing/2014/main" val="2514391173"/>
                    </a:ext>
                  </a:extLst>
                </a:gridCol>
                <a:gridCol w="1189596">
                  <a:extLst>
                    <a:ext uri="{9D8B030D-6E8A-4147-A177-3AD203B41FA5}">
                      <a16:colId xmlns:a16="http://schemas.microsoft.com/office/drawing/2014/main" val="1023334367"/>
                    </a:ext>
                  </a:extLst>
                </a:gridCol>
              </a:tblGrid>
              <a:tr h="391054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dirty="0" err="1">
                          <a:effectLst/>
                        </a:rPr>
                        <a:t>Pizza_category</a:t>
                      </a:r>
                      <a:endParaRPr lang="en-US" sz="1100" b="1" dirty="0">
                        <a:effectLst/>
                      </a:endParaRP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>
                          <a:effectLst/>
                        </a:rPr>
                        <a:t>pizza_size</a:t>
                      </a:r>
                      <a:endParaRPr lang="en-US" sz="1100" b="1" dirty="0">
                        <a:effectLst/>
                      </a:endParaRPr>
                    </a:p>
                    <a:p>
                      <a:pPr algn="r" fontAlgn="ctr"/>
                      <a:endParaRPr lang="en-US" sz="1100" b="1" dirty="0">
                        <a:effectLst/>
                      </a:endParaRP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effectLst/>
                        </a:rPr>
                        <a:t>count</a:t>
                      </a:r>
                    </a:p>
                    <a:p>
                      <a:endParaRPr lang="en-US" sz="1100" dirty="0"/>
                    </a:p>
                  </a:txBody>
                  <a:tcPr marL="55865" marR="55865" marT="27932" marB="2793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638048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Classic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S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5975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819759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Veggie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L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5263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569176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Chicken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L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4799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001362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Supreme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L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4477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529275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Classic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4045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744446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Classic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L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3987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978749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Supreme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3977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2661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Chicken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3811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186950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Veggie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3552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472130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Supreme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S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3323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7651246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Veggie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S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2634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971893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Chicken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S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2205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384732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Classic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XL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544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1404"/>
                  </a:ext>
                </a:extLst>
              </a:tr>
              <a:tr h="22345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Classic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XXL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28</a:t>
                      </a:r>
                    </a:p>
                  </a:txBody>
                  <a:tcPr marL="55865" marR="55865" marT="27932" marB="279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156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392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 pizza is the most sold pizza.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A4E61BD-08DB-DCE9-D7FB-E7E52675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used single ingredient in a pizza.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4FA8B78A-67F4-351C-715A-B5B6185878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7919892"/>
              </p:ext>
            </p:extLst>
          </p:nvPr>
        </p:nvGraphicFramePr>
        <p:xfrm>
          <a:off x="605287" y="1346084"/>
          <a:ext cx="4837980" cy="1737360"/>
        </p:xfrm>
        <a:graphic>
          <a:graphicData uri="http://schemas.openxmlformats.org/drawingml/2006/table">
            <a:tbl>
              <a:tblPr/>
              <a:tblGrid>
                <a:gridCol w="1612660">
                  <a:extLst>
                    <a:ext uri="{9D8B030D-6E8A-4147-A177-3AD203B41FA5}">
                      <a16:colId xmlns:a16="http://schemas.microsoft.com/office/drawing/2014/main" val="3833536186"/>
                    </a:ext>
                  </a:extLst>
                </a:gridCol>
                <a:gridCol w="1612660">
                  <a:extLst>
                    <a:ext uri="{9D8B030D-6E8A-4147-A177-3AD203B41FA5}">
                      <a16:colId xmlns:a16="http://schemas.microsoft.com/office/drawing/2014/main" val="3556012130"/>
                    </a:ext>
                  </a:extLst>
                </a:gridCol>
                <a:gridCol w="1612660">
                  <a:extLst>
                    <a:ext uri="{9D8B030D-6E8A-4147-A177-3AD203B41FA5}">
                      <a16:colId xmlns:a16="http://schemas.microsoft.com/office/drawing/2014/main" val="339202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Pizza category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Classic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14579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404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Supreme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11777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364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Veggie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11449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754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Chicken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10815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858673"/>
                  </a:ext>
                </a:extLst>
              </a:tr>
            </a:tbl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FE0FD534-06D0-E528-42EE-54987EF99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790" y="1240356"/>
            <a:ext cx="3295650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413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A4E61BD-08DB-DCE9-D7FB-E7E52675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ingridents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0DBDC-99D5-3998-9DA3-1DB5433D4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22" y="1249000"/>
            <a:ext cx="10515600" cy="54105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3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used ingredient is Garlic and is used 27422 times.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526AD0B-486C-800F-00DC-5BA6DD6AF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54920"/>
            <a:ext cx="3295650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314F0B-F952-049D-EF82-302EA493C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299626"/>
              </p:ext>
            </p:extLst>
          </p:nvPr>
        </p:nvGraphicFramePr>
        <p:xfrm>
          <a:off x="451269" y="1690688"/>
          <a:ext cx="3505200" cy="21031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6006221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30562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Ingredients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Garlic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27422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66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Tomatoes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23694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Red Onions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19547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09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Red Peppers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16284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3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Chicken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8443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08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526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time of the day which has maximum order is 12:32:00 which is 26.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A4E61BD-08DB-DCE9-D7FB-E7E52675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5.Is there a time of the day when there is a peak sale? If yes, does that depend on the day of the week, or month?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48F5CCB-D11A-CA51-5303-91423AE1E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8625253"/>
              </p:ext>
            </p:extLst>
          </p:nvPr>
        </p:nvGraphicFramePr>
        <p:xfrm>
          <a:off x="206077" y="1416836"/>
          <a:ext cx="5237670" cy="2103120"/>
        </p:xfrm>
        <a:graphic>
          <a:graphicData uri="http://schemas.openxmlformats.org/drawingml/2006/table">
            <a:tbl>
              <a:tblPr/>
              <a:tblGrid>
                <a:gridCol w="1745890">
                  <a:extLst>
                    <a:ext uri="{9D8B030D-6E8A-4147-A177-3AD203B41FA5}">
                      <a16:colId xmlns:a16="http://schemas.microsoft.com/office/drawing/2014/main" val="2138149782"/>
                    </a:ext>
                  </a:extLst>
                </a:gridCol>
                <a:gridCol w="1745890">
                  <a:extLst>
                    <a:ext uri="{9D8B030D-6E8A-4147-A177-3AD203B41FA5}">
                      <a16:colId xmlns:a16="http://schemas.microsoft.com/office/drawing/2014/main" val="2512462006"/>
                    </a:ext>
                  </a:extLst>
                </a:gridCol>
                <a:gridCol w="1745890">
                  <a:extLst>
                    <a:ext uri="{9D8B030D-6E8A-4147-A177-3AD203B41FA5}">
                      <a16:colId xmlns:a16="http://schemas.microsoft.com/office/drawing/2014/main" val="3378381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Time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12:32:00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u="sng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dirty="0">
                          <a:effectLst/>
                        </a:rPr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617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11:59:10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837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12:53:29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470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12:26:04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48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12:52:36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967427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37AD93F1-2315-E2D0-7922-C027D9BCD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023" y="1027906"/>
            <a:ext cx="3109229" cy="36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61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pizza sales is around 12'o' clock which is mostly lunch time.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A4E61BD-08DB-DCE9-D7FB-E7E52675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799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Is there a time of the day when there is a peak sale? If yes, does that depend on the day of the week, or month?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ED7E251-BA25-E77B-36B6-D7B2FC0A4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272090"/>
              </p:ext>
            </p:extLst>
          </p:nvPr>
        </p:nvGraphicFramePr>
        <p:xfrm>
          <a:off x="838200" y="1221779"/>
          <a:ext cx="2780022" cy="4560488"/>
        </p:xfrm>
        <a:graphic>
          <a:graphicData uri="http://schemas.openxmlformats.org/drawingml/2006/table">
            <a:tbl>
              <a:tblPr/>
              <a:tblGrid>
                <a:gridCol w="1390011">
                  <a:extLst>
                    <a:ext uri="{9D8B030D-6E8A-4147-A177-3AD203B41FA5}">
                      <a16:colId xmlns:a16="http://schemas.microsoft.com/office/drawing/2014/main" val="1513741489"/>
                    </a:ext>
                  </a:extLst>
                </a:gridCol>
                <a:gridCol w="1390011">
                  <a:extLst>
                    <a:ext uri="{9D8B030D-6E8A-4147-A177-3AD203B41FA5}">
                      <a16:colId xmlns:a16="http://schemas.microsoft.com/office/drawing/2014/main" val="197841333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sng" dirty="0">
                          <a:effectLst/>
                        </a:rPr>
                        <a:t>Hour</a:t>
                      </a:r>
                    </a:p>
                    <a:p>
                      <a:pPr algn="r" fontAlgn="ctr"/>
                      <a:r>
                        <a:rPr lang="en-US" sz="1400" dirty="0">
                          <a:effectLst/>
                        </a:rPr>
                        <a:t>12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sng" dirty="0">
                          <a:effectLst/>
                        </a:rPr>
                        <a:t>Count</a:t>
                      </a:r>
                    </a:p>
                    <a:p>
                      <a:pPr algn="r" fontAlgn="ctr"/>
                      <a:r>
                        <a:rPr lang="en-US" sz="1400" dirty="0">
                          <a:effectLst/>
                        </a:rPr>
                        <a:t>2520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98531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dirty="0">
                          <a:effectLst/>
                        </a:rPr>
                        <a:t>13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2455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6155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dirty="0">
                          <a:effectLst/>
                        </a:rPr>
                        <a:t>18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2399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95851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dirty="0">
                          <a:effectLst/>
                        </a:rPr>
                        <a:t>17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2336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51038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dirty="0">
                          <a:effectLst/>
                        </a:rPr>
                        <a:t>19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2009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01993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16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1920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436416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20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dirty="0">
                          <a:effectLst/>
                        </a:rPr>
                        <a:t>1642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08786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14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1472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8749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15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dirty="0">
                          <a:effectLst/>
                        </a:rPr>
                        <a:t>1468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39762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11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1231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03992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21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1198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09207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22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663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95892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23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dirty="0">
                          <a:effectLst/>
                        </a:rPr>
                        <a:t>28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26395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27302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>
                          <a:effectLst/>
                        </a:rPr>
                        <a:t>09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48305"/>
                  </a:ext>
                </a:extLst>
              </a:tr>
            </a:tbl>
          </a:graphicData>
        </a:graphic>
      </p:graphicFrame>
      <p:pic>
        <p:nvPicPr>
          <p:cNvPr id="4100" name="Picture 4">
            <a:extLst>
              <a:ext uri="{FF2B5EF4-FFF2-40B4-BE49-F238E27FC236}">
                <a16:creationId xmlns:a16="http://schemas.microsoft.com/office/drawing/2014/main" id="{8D7B4DF4-2521-83DD-5BB7-144712F4A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902" y="1221779"/>
            <a:ext cx="67818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416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2D574D-0ED0-4403-DE12-16922C19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6EB6AF-76FF-7E8B-1A2E-CFED875A2277}"/>
              </a:ext>
            </a:extLst>
          </p:cNvPr>
          <p:cNvSpPr/>
          <p:nvPr/>
        </p:nvSpPr>
        <p:spPr>
          <a:xfrm>
            <a:off x="0" y="-4329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</a:t>
            </a: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pizza sales is in around 12'o'clock to 13'o' clock which is mostly lunch time and around 17'o' clock to 18'o'clock which is mostly snacks time.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 the highest sales are around lunch time and snacks time whether it is week or month or day time.</a:t>
            </a: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A4E61BD-08DB-DCE9-D7FB-E7E52675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414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yes, does that depend on the day of the week, or month?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EE3A7C-9206-0451-D0EA-14384B0D9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626095"/>
              </p:ext>
            </p:extLst>
          </p:nvPr>
        </p:nvGraphicFramePr>
        <p:xfrm>
          <a:off x="670704" y="1042534"/>
          <a:ext cx="3250722" cy="4023360"/>
        </p:xfrm>
        <a:graphic>
          <a:graphicData uri="http://schemas.openxmlformats.org/drawingml/2006/table">
            <a:tbl>
              <a:tblPr/>
              <a:tblGrid>
                <a:gridCol w="1083574">
                  <a:extLst>
                    <a:ext uri="{9D8B030D-6E8A-4147-A177-3AD203B41FA5}">
                      <a16:colId xmlns:a16="http://schemas.microsoft.com/office/drawing/2014/main" val="497839145"/>
                    </a:ext>
                  </a:extLst>
                </a:gridCol>
                <a:gridCol w="1304505">
                  <a:extLst>
                    <a:ext uri="{9D8B030D-6E8A-4147-A177-3AD203B41FA5}">
                      <a16:colId xmlns:a16="http://schemas.microsoft.com/office/drawing/2014/main" val="2990589640"/>
                    </a:ext>
                  </a:extLst>
                </a:gridCol>
                <a:gridCol w="862643">
                  <a:extLst>
                    <a:ext uri="{9D8B030D-6E8A-4147-A177-3AD203B41FA5}">
                      <a16:colId xmlns:a16="http://schemas.microsoft.com/office/drawing/2014/main" val="6163454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 dirty="0">
                          <a:effectLst/>
                        </a:rPr>
                        <a:t>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</a:rPr>
                        <a:t>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</a:rPr>
                        <a:t>Count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295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Thursday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27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Thursday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173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Tuesday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06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Wednesday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420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115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415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332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413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885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Monday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398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64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Saturday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388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602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387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095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Wednesday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381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1856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92A4E5-66D1-15B9-BD96-F684B1A04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92030"/>
              </p:ext>
            </p:extLst>
          </p:nvPr>
        </p:nvGraphicFramePr>
        <p:xfrm>
          <a:off x="4211130" y="1042534"/>
          <a:ext cx="2536167" cy="4023360"/>
        </p:xfrm>
        <a:graphic>
          <a:graphicData uri="http://schemas.openxmlformats.org/drawingml/2006/table">
            <a:tbl>
              <a:tblPr/>
              <a:tblGrid>
                <a:gridCol w="845389">
                  <a:extLst>
                    <a:ext uri="{9D8B030D-6E8A-4147-A177-3AD203B41FA5}">
                      <a16:colId xmlns:a16="http://schemas.microsoft.com/office/drawing/2014/main" val="559470108"/>
                    </a:ext>
                  </a:extLst>
                </a:gridCol>
                <a:gridCol w="845389">
                  <a:extLst>
                    <a:ext uri="{9D8B030D-6E8A-4147-A177-3AD203B41FA5}">
                      <a16:colId xmlns:a16="http://schemas.microsoft.com/office/drawing/2014/main" val="317776401"/>
                    </a:ext>
                  </a:extLst>
                </a:gridCol>
                <a:gridCol w="845389">
                  <a:extLst>
                    <a:ext uri="{9D8B030D-6E8A-4147-A177-3AD203B41FA5}">
                      <a16:colId xmlns:a16="http://schemas.microsoft.com/office/drawing/2014/main" val="1744301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 dirty="0">
                          <a:effectLst/>
                        </a:rPr>
                        <a:t>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</a:rPr>
                        <a:t>Week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</a:rPr>
                        <a:t>count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35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06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106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818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930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445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50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740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043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63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31109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59B80D-1CFA-3EC8-43A8-AF75C30F2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61664"/>
              </p:ext>
            </p:extLst>
          </p:nvPr>
        </p:nvGraphicFramePr>
        <p:xfrm>
          <a:off x="7746045" y="1042534"/>
          <a:ext cx="3461106" cy="4023360"/>
        </p:xfrm>
        <a:graphic>
          <a:graphicData uri="http://schemas.openxmlformats.org/drawingml/2006/table">
            <a:tbl>
              <a:tblPr/>
              <a:tblGrid>
                <a:gridCol w="1153702">
                  <a:extLst>
                    <a:ext uri="{9D8B030D-6E8A-4147-A177-3AD203B41FA5}">
                      <a16:colId xmlns:a16="http://schemas.microsoft.com/office/drawing/2014/main" val="1734169141"/>
                    </a:ext>
                  </a:extLst>
                </a:gridCol>
                <a:gridCol w="1153702">
                  <a:extLst>
                    <a:ext uri="{9D8B030D-6E8A-4147-A177-3AD203B41FA5}">
                      <a16:colId xmlns:a16="http://schemas.microsoft.com/office/drawing/2014/main" val="144483476"/>
                    </a:ext>
                  </a:extLst>
                </a:gridCol>
                <a:gridCol w="1153702">
                  <a:extLst>
                    <a:ext uri="{9D8B030D-6E8A-4147-A177-3AD203B41FA5}">
                      <a16:colId xmlns:a16="http://schemas.microsoft.com/office/drawing/2014/main" val="31525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 dirty="0">
                          <a:effectLst/>
                        </a:rPr>
                        <a:t>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</a:rPr>
                        <a:t>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</a:rPr>
                        <a:t>count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984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July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59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July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33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March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89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June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234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December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908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April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93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April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103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June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514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2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August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275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977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BFE11151-EB2B-8684-DB5E-6D3B98D3271D}"/>
              </a:ext>
            </a:extLst>
          </p:cNvPr>
          <p:cNvSpPr txBox="1">
            <a:spLocks/>
          </p:cNvSpPr>
          <p:nvPr/>
        </p:nvSpPr>
        <p:spPr>
          <a:xfrm>
            <a:off x="7416802" y="0"/>
            <a:ext cx="4775198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pic>
        <p:nvPicPr>
          <p:cNvPr id="6148" name="Picture 4" descr="Best Pizza Memes">
            <a:extLst>
              <a:ext uri="{FF2B5EF4-FFF2-40B4-BE49-F238E27FC236}">
                <a16:creationId xmlns:a16="http://schemas.microsoft.com/office/drawing/2014/main" id="{B4D09CFA-0887-2C70-3474-8C6450A83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A760C5-41D1-152D-8D94-01A71D584ECB}"/>
              </a:ext>
            </a:extLst>
          </p:cNvPr>
          <p:cNvSpPr txBox="1"/>
          <p:nvPr/>
        </p:nvSpPr>
        <p:spPr>
          <a:xfrm>
            <a:off x="0" y="4915584"/>
            <a:ext cx="5727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ref:https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://www.hungryhowies.com/blog/best-pizza-memes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BE59F-2FC9-300A-118B-D1BFDAD29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965" y="1707944"/>
            <a:ext cx="5730737" cy="18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75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1209</Words>
  <Application>Microsoft Office PowerPoint</Application>
  <PresentationFormat>Widescreen</PresentationFormat>
  <Paragraphs>632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Helvetica Neue</vt:lpstr>
      <vt:lpstr>Stencil</vt:lpstr>
      <vt:lpstr>Times New Roman</vt:lpstr>
      <vt:lpstr>Wingdings</vt:lpstr>
      <vt:lpstr>Office Theme</vt:lpstr>
      <vt:lpstr> Data 601 Assignment: Project 2</vt:lpstr>
      <vt:lpstr>TABLE OF CONTENT </vt:lpstr>
      <vt:lpstr>1. Which pizza types sell most? </vt:lpstr>
      <vt:lpstr>2. Which ingredients are in demand?</vt:lpstr>
      <vt:lpstr>PowerPoint Presentation</vt:lpstr>
      <vt:lpstr>PowerPoint Presentation</vt:lpstr>
      <vt:lpstr>2. Which ingredients are in demand?</vt:lpstr>
      <vt:lpstr>3. Are there more (or less) sales of a certain type of pizza in a certain month, or day, or time of the day?</vt:lpstr>
      <vt:lpstr>Which day has the maximum sales in a year?</vt:lpstr>
      <vt:lpstr>Which pizza is most sold in a certain day?</vt:lpstr>
      <vt:lpstr>Week for the most sales</vt:lpstr>
      <vt:lpstr>Week for the most sales</vt:lpstr>
      <vt:lpstr>Highest sales for the month.</vt:lpstr>
      <vt:lpstr>Highest sales for the month.</vt:lpstr>
      <vt:lpstr>4.Which pizza sizes are sold more often, which type, which ingerdients, etc.?  </vt:lpstr>
      <vt:lpstr>Pizza sale with reference to size  </vt:lpstr>
      <vt:lpstr>The most used single ingredient in a pizza.</vt:lpstr>
      <vt:lpstr>Which ingridents?</vt:lpstr>
      <vt:lpstr>5. 5.Is there a time of the day when there is a peak sale? If yes, does that depend on the day of the week, or month?</vt:lpstr>
      <vt:lpstr>5. Is there a time of the day when there is a peak sale? If yes, does that depend on the day of the week, or month?</vt:lpstr>
      <vt:lpstr> If yes, does that depend on the day of the week, or month?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601 Assignment: Project 2</dc:title>
  <dc:creator>Akshansh Mandal</dc:creator>
  <cp:lastModifiedBy>Akshansh Mandal</cp:lastModifiedBy>
  <cp:revision>50</cp:revision>
  <dcterms:created xsi:type="dcterms:W3CDTF">2022-12-02T04:09:29Z</dcterms:created>
  <dcterms:modified xsi:type="dcterms:W3CDTF">2022-12-05T01:11:42Z</dcterms:modified>
</cp:coreProperties>
</file>